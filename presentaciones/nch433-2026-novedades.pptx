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530" r:id="rId1"/>
  </p:sldMasterIdLst>
  <p:sldIdLst>
    <p:sldId id="411" r:id="rId2"/>
    <p:sldId id="426" r:id="rId3"/>
    <p:sldId id="441" r:id="rId4"/>
    <p:sldId id="438" r:id="rId5"/>
    <p:sldId id="442" r:id="rId6"/>
    <p:sldId id="443" r:id="rId7"/>
    <p:sldId id="444" r:id="rId8"/>
    <p:sldId id="445" r:id="rId9"/>
    <p:sldId id="437" r:id="rId10"/>
    <p:sldId id="429" r:id="rId11"/>
    <p:sldId id="428" r:id="rId12"/>
    <p:sldId id="440" r:id="rId13"/>
    <p:sldId id="439" r:id="rId14"/>
    <p:sldId id="431" r:id="rId15"/>
    <p:sldId id="434" r:id="rId16"/>
    <p:sldId id="435" r:id="rId17"/>
    <p:sldId id="427" r:id="rId18"/>
    <p:sldId id="430" r:id="rId19"/>
    <p:sldId id="425" r:id="rId20"/>
    <p:sldId id="433" r:id="rId21"/>
    <p:sldId id="446" r:id="rId22"/>
    <p:sldId id="432" r:id="rId23"/>
    <p:sldId id="447" r:id="rId24"/>
    <p:sldId id="436" r:id="rId25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io Ricke" initials="LR" lastIdx="2" clrIdx="0">
    <p:extLst>
      <p:ext uri="{19B8F6BF-5375-455C-9EA6-DF929625EA0E}">
        <p15:presenceInfo xmlns:p15="http://schemas.microsoft.com/office/powerpoint/2012/main" userId="0008623cc717e3a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13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6:23:57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16071 599 24534,'-7'23'0,"-11"1"0,-13-1 0,-12 0 0,-13 0 0,-11 0 0,-13 0 0,-12 0 0,-11-1 0,-12 0 0,-12-1 0,-10 0 0,-12 0 0,-11-1 0,-10 0 0,-10 0 0,-10-2 0,-11 0 0,-8 0 0,-10-1 0,-8-1 0,-9 0 0,-8-1 0,-8-1 0,-6-1 0,-8 0 0,-6-1 0,-7-1 0,-5-1 0,-5 0 0,-4-2 0,-6 0 0,-2-1 0,-5-1 0,-2-1 0,-2-1 0,-3-1 0,-1 0 0,-1-2 0,0-1 0,-1 0 0,1-1 0,1-2 0,2 0 0,1-1 0,3-1 0,3-1 0,3-1 0,4-1 0,4 0 0,5-2 0,5 0 0,6-1 0,5-1 0,8-1 0,6 0 0,7-1 0,8-1 0,8-1 0,9 0 0,8-1 0,10-1 0,9 0 0,9 0 0,11-2 0,10 0 0,10 0 0,11-1 0,12 0 0,10 0 0,12-1 0,12 0 0,11-1 0,13 0 0,11 0 0,13 0 0,11 0 0,13 0 0,13-1 0,12 1 0,12-1 0,12 1 0,13-1 0,13 1 0,11 0 0,13 0 0,11 0 0,13 1 0,11-1 0,12 2 0,12-1 0,10 1 0,12 0 0,11 1 0,10 0 0,10 1 0,11 0 0,9 1 0,9 0 0,10 1 0,8 1 0,9 0 0,8 2 0,8-1 0,7 2 0,6 0 0,8 1 0,5 1 0,6 1 0,5 1 0,5 0 0,4 1 0,4 1 0,3 2 0,3 0 0,3 0 0,1 2 0,2 1 0,1 0 0,1 2 0,-1 0 0,0 2 0,-1 0 0,-1 1 0,-3 2 0,-2 0 0,-2 0 0,-4 2 0,-4 1 0,-5 1 0,-4 0 0,-5 1 0,-5 1 0,-7 1 0,-6 1 0,-8 0 0,-6 2 0,-8-1 0,-8 2 0,-9 0 0,-8 1 0,-10 1 0,-8 0 0,-11 1 0,-10 0 0,-10 1 0,-10 0 0,-11 1 0,-12 0 0,-10 1 0,-12-1 0,-12 2 0,-11-1 0,-12 1 0,-13 0 0,-11 0 0,-13 0 0,-12 1 0,-13-1 0,-11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2T16:23:57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16071 599 24534,'-7'23'0,"-11"1"0,-13-1 0,-12 0 0,-13 0 0,-11 0 0,-13 0 0,-12 0 0,-11-1 0,-12 0 0,-12-1 0,-10 0 0,-12 0 0,-11-1 0,-10 0 0,-10 0 0,-10-2 0,-11 0 0,-8 0 0,-10-1 0,-8-1 0,-9 0 0,-8-1 0,-8-1 0,-6-1 0,-8 0 0,-6-1 0,-7-1 0,-5-1 0,-5 0 0,-4-2 0,-6 0 0,-2-1 0,-5-1 0,-2-1 0,-2-1 0,-3-1 0,-1 0 0,-1-2 0,0-1 0,-1 0 0,1-1 0,1-2 0,2 0 0,1-1 0,3-1 0,3-1 0,3-1 0,4-1 0,4 0 0,5-2 0,5 0 0,6-1 0,5-1 0,8-1 0,6 0 0,7-1 0,8-1 0,8-1 0,9 0 0,8-1 0,10-1 0,9 0 0,9 0 0,11-2 0,10 0 0,10 0 0,11-1 0,12 0 0,10 0 0,12-1 0,12 0 0,11-1 0,13 0 0,11 0 0,13 0 0,11 0 0,13 0 0,13-1 0,12 1 0,12-1 0,12 1 0,13-1 0,13 1 0,11 0 0,13 0 0,11 0 0,13 1 0,11-1 0,12 2 0,12-1 0,10 1 0,12 0 0,11 1 0,10 0 0,10 1 0,11 0 0,9 1 0,9 0 0,10 1 0,8 1 0,9 0 0,8 2 0,8-1 0,7 2 0,6 0 0,8 1 0,5 1 0,6 1 0,5 1 0,5 0 0,4 1 0,4 1 0,3 2 0,3 0 0,3 0 0,1 2 0,2 1 0,1 0 0,1 2 0,-1 0 0,0 2 0,-1 0 0,-1 1 0,-3 2 0,-2 0 0,-2 0 0,-4 2 0,-4 1 0,-5 1 0,-4 0 0,-5 1 0,-5 1 0,-7 1 0,-6 1 0,-8 0 0,-6 2 0,-8-1 0,-8 2 0,-9 0 0,-8 1 0,-10 1 0,-8 0 0,-11 1 0,-10 0 0,-10 1 0,-10 0 0,-11 1 0,-12 0 0,-10 1 0,-12-1 0,-12 2 0,-11-1 0,-12 1 0,-13 0 0,-11 0 0,-13 0 0,-12 1 0,-13-1 0,-11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4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3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27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96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58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85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80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448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38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98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546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86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32" r:id="rId2"/>
    <p:sldLayoutId id="2147484533" r:id="rId3"/>
    <p:sldLayoutId id="2147484534" r:id="rId4"/>
    <p:sldLayoutId id="2147484535" r:id="rId5"/>
    <p:sldLayoutId id="2147484536" r:id="rId6"/>
    <p:sldLayoutId id="2147484537" r:id="rId7"/>
    <p:sldLayoutId id="2147484538" r:id="rId8"/>
    <p:sldLayoutId id="2147484539" r:id="rId9"/>
    <p:sldLayoutId id="2147484540" r:id="rId10"/>
    <p:sldLayoutId id="21474845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ricke@iec.c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3E0BB-58EC-E761-C043-6B375F6E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8FAAA7FD-4D52-DDBE-4A45-F9DFC51CF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88" y="768485"/>
            <a:ext cx="8735437" cy="1928938"/>
          </a:xfrm>
        </p:spPr>
        <p:txBody>
          <a:bodyPr>
            <a:normAutofit fontScale="92500"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CL" sz="3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  Diseño Sísmico de Edificios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CL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CL" sz="3200" kern="100" dirty="0">
                <a:latin typeface="Rockwell" panose="02060603020205020403" pitchFamily="18" charset="0"/>
                <a:cs typeface="Arial" panose="020B0604020202020204" pitchFamily="34" charset="0"/>
              </a:rPr>
              <a:t>Principales Novedades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CL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A0C25C-23B6-D393-4153-C3C30717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B320407-F5AF-77AD-D21A-D39EAC8C6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6580E06-A5E0-5DDE-CDA6-AEF0B7EFD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270" y="2117934"/>
            <a:ext cx="5663404" cy="371866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ABBFD13-2C86-84F6-068D-AF5E6E789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38" y="3429000"/>
            <a:ext cx="3023020" cy="217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7466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0104-937D-B55A-C21F-461BC0E0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85F7EB3-2C87-69C8-220E-6E4E5C9A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114300" lvl="1" indent="0" algn="l" rt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32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  <a:ea typeface="+mj-ea"/>
                <a:cs typeface="+mj-cs"/>
              </a:rPr>
              <a:t>Introducción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72FC7D7-995A-180B-C902-BCEE07AA6F20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028DB282-328A-E5B4-6102-EF59B3F99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33" y="1153961"/>
            <a:ext cx="9632329" cy="4334924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 Diseño Sísmico de Edificios 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	Esta norma se basa en la norma NCh 433.OF1996 Modificada en 2009 + Decreto Supremo 61 del MINVU de 2 de noviembre de 2011.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	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Incorpora todos los aprendizajes en el ámbito sísmico que resultan del estudio del terremoto 27F que se obtienen posteriores al DS 61- 2011.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	Se compatibiliza con otras normas chilenas que se han desarrollado en este periodo.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1519041-3A96-3E13-C7D5-5A8D496C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1C14569-EF85-668A-2D60-87487C051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6402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B6263-1A4E-C927-1429-C5D898442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B634337-15ED-2E05-55D4-C6B60E84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114300" lvl="1" indent="0" algn="l" rt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32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  <a:ea typeface="+mj-ea"/>
                <a:cs typeface="+mj-cs"/>
              </a:rPr>
              <a:t>Principios y supuestos básicos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33A2647-95C5-7DE2-2DEE-1F06D1921653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6F972518-0E50-3503-1EA7-3A9B7F6A9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33" y="1153961"/>
            <a:ext cx="9632329" cy="4334924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2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4A4301-7DD0-15D9-C3DB-A7DDB4D46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5F471A9-1114-83C9-4F25-0132C9BD5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395C0F7-6EF9-E7D9-EDE8-ECA155893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98793"/>
            <a:ext cx="9485147" cy="329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444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0FBC-8B87-4332-22EF-3866E90C3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09F1521-24E2-3196-CCE9-480AE842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114300" lvl="1" indent="0" algn="l" rtl="0">
              <a:lnSpc>
                <a:spcPct val="90000"/>
              </a:lnSpc>
              <a:spcBef>
                <a:spcPct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3200" kern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  <a:ea typeface="+mj-ea"/>
                <a:cs typeface="+mj-cs"/>
              </a:rPr>
              <a:t>Principios y supuestos básicos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2592928-FA37-E562-EEE2-C42D7BD80147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29F202FD-BE5A-069C-9442-770B4BE41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33" y="1153961"/>
            <a:ext cx="9632329" cy="4334924"/>
          </a:xfrm>
        </p:spPr>
        <p:txBody>
          <a:bodyPr>
            <a:normAutofit/>
          </a:bodyPr>
          <a:lstStyle/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5.1 Principios y supuestos básicos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5.1.1 Esta norma, aplicada en conjunto con las normas de diseño específicas para cada material enumeradas en 5.3,  fue desarrollada para que: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a) Los componentes estructurales conserven su funcionalidad después de un sismo frecuente.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b) La estructura presente una baja probabilidad de colapso al ser sometida a un sismo de excepcional intensidad en el sitio.</a:t>
            </a:r>
            <a:endParaRPr lang="es-CL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B0D51A-BBFD-9393-3E4A-D22471E04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3AF02F4-C318-8C3F-8A9D-0271D1D28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9390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A720-BD46-CBEA-D4A8-3222E0600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2109CF6-C668-6B00-70DC-3EA09BB1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CL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6.- Métodos de análisis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0A19B02-67EB-78FE-1798-8D1A1DE83A26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8907D75D-F6EA-B567-0850-B3913A795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33" y="1153960"/>
            <a:ext cx="10519308" cy="4497809"/>
          </a:xfrm>
        </p:spPr>
        <p:txBody>
          <a:bodyPr>
            <a:normAutofit fontScale="70000" lnSpcReduction="20000"/>
          </a:bodyPr>
          <a:lstStyle/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2900" kern="100" dirty="0">
                <a:latin typeface="Rockwell" panose="02060603020205020403" pitchFamily="18" charset="0"/>
                <a:cs typeface="Arial" panose="020B0604020202020204" pitchFamily="34" charset="0"/>
              </a:rPr>
              <a:t>6.1.1 Cualquiera sea el método de análisis usado, la estructura se debe modelar de </a:t>
            </a:r>
            <a:r>
              <a:rPr lang="es-MX" sz="29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forma tridimensional</a:t>
            </a:r>
            <a:r>
              <a:rPr lang="es-MX" sz="2900" kern="100" dirty="0">
                <a:latin typeface="Rockwell" panose="02060603020205020403" pitchFamily="18" charset="0"/>
                <a:cs typeface="Arial" panose="020B0604020202020204" pitchFamily="34" charset="0"/>
              </a:rPr>
              <a:t>. Los modelos deben representar las </a:t>
            </a:r>
            <a:r>
              <a:rPr lang="es-MX" sz="29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distribuciones espaciales de la masa </a:t>
            </a:r>
            <a:r>
              <a:rPr lang="es-MX" sz="2900" kern="100" dirty="0">
                <a:latin typeface="Rockwell" panose="02060603020205020403" pitchFamily="18" charset="0"/>
                <a:cs typeface="Arial" panose="020B0604020202020204" pitchFamily="34" charset="0"/>
              </a:rPr>
              <a:t>y </a:t>
            </a:r>
            <a:r>
              <a:rPr lang="es-MX" sz="29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la rigidez </a:t>
            </a:r>
            <a:r>
              <a:rPr lang="es-MX" sz="2900" kern="100" dirty="0">
                <a:latin typeface="Rockwell" panose="02060603020205020403" pitchFamily="18" charset="0"/>
                <a:cs typeface="Arial" panose="020B0604020202020204" pitchFamily="34" charset="0"/>
              </a:rPr>
              <a:t>de la estructura para calcular su respuesta dinámica y obtener las solicitaciones y desplazamientos requeridos para el diseño de los distintos elementos de dicha estructura.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32B918-63FE-CC53-BECE-3E3A4815A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A94BE86-9907-F392-786A-70CAF504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777F9E4-23CD-F036-A40C-D70C4E8C2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53" y="1890410"/>
            <a:ext cx="10344688" cy="13157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6CCB6069-FB11-8C28-C18E-7744F97EF27A}"/>
                  </a:ext>
                </a:extLst>
              </p14:cNvPr>
              <p14:cNvContentPartPr/>
              <p14:nvPr/>
            </p14:nvContentPartPr>
            <p14:xfrm>
              <a:off x="2030746" y="2190269"/>
              <a:ext cx="5785680" cy="431414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6CCB6069-FB11-8C28-C18E-7744F97EF27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24626" y="2183787"/>
                <a:ext cx="5797920" cy="44365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056963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16151-69F8-9477-88DC-CF04CC46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F072EF1-CDEC-9161-6403-53134A8BE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CL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Diafragmas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CA1C3A5-9709-7054-8986-10C7972B1B0D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2B0063F5-5FC3-E202-6BC2-06BFB4FF6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33" y="1153961"/>
            <a:ext cx="10519308" cy="4334924"/>
          </a:xfrm>
        </p:spPr>
        <p:txBody>
          <a:bodyPr>
            <a:normAutofit/>
          </a:bodyPr>
          <a:lstStyle/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</a:p>
          <a:p>
            <a:pPr marL="0" indent="0">
              <a:buNone/>
            </a:pPr>
            <a:r>
              <a:rPr lang="es-MX" sz="2200" b="1" dirty="0"/>
              <a:t>5.5.2.1 </a:t>
            </a:r>
            <a:r>
              <a:rPr lang="es-MX" sz="2200" dirty="0"/>
              <a:t>Los diafragmas se deben modelar estructuralmente con elementos necesarios y </a:t>
            </a:r>
            <a:r>
              <a:rPr lang="es-CL" sz="2200" dirty="0"/>
              <a:t>grados de libertad suficientes para representar </a:t>
            </a:r>
            <a:r>
              <a:rPr lang="es-MX" sz="2200" dirty="0"/>
              <a:t>la rigidez de diseño en sus planos horizontales y </a:t>
            </a:r>
            <a:r>
              <a:rPr lang="es-CL" sz="2200" dirty="0"/>
              <a:t>fuera de éstos.</a:t>
            </a:r>
            <a:endParaRPr lang="es-MX" sz="17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9262930-5205-02A4-9852-A0C0379A6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7201F-D19B-9415-DBA4-C90050F25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D9BFC433-56B0-052E-8BD6-E0F5DBF84115}"/>
                  </a:ext>
                </a:extLst>
              </p14:cNvPr>
              <p14:cNvContentPartPr/>
              <p14:nvPr/>
            </p14:nvContentPartPr>
            <p14:xfrm>
              <a:off x="2030746" y="2190269"/>
              <a:ext cx="5785680" cy="431414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D9BFC433-56B0-052E-8BD6-E0F5DBF841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4626" y="2184147"/>
                <a:ext cx="5797920" cy="443658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206FCB98-63CB-C9B2-B08F-2D39AF8F12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010" y="1649926"/>
            <a:ext cx="10361335" cy="158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6704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69696-E8E4-E232-D8B0-E9D62C87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9DCE4A0-BC20-71DD-2616-A4025876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S</a:t>
            </a:r>
            <a:r>
              <a:rPr lang="es-CL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obre cargas de techo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322D5AD-DC2E-5AEE-05ED-46991E462C72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46385CF9-82AC-45C8-288F-16B34C243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33" y="1153961"/>
            <a:ext cx="10519308" cy="4334924"/>
          </a:xfrm>
        </p:spPr>
        <p:txBody>
          <a:bodyPr>
            <a:normAutofit/>
          </a:bodyPr>
          <a:lstStyle/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</a:p>
          <a:p>
            <a:pPr marL="0" indent="0">
              <a:buNone/>
            </a:pPr>
            <a:r>
              <a:rPr lang="es-MX" sz="2000" b="1" dirty="0"/>
              <a:t>6.2.3.3 </a:t>
            </a:r>
            <a:r>
              <a:rPr lang="es-MX" sz="2000" dirty="0"/>
              <a:t>El peso sísmico total </a:t>
            </a:r>
            <a:r>
              <a:rPr lang="es-MX" sz="2000" i="1" dirty="0"/>
              <a:t>P </a:t>
            </a:r>
            <a:r>
              <a:rPr lang="es-MX" sz="2000" dirty="0"/>
              <a:t>del edificio sobre el nivel basal se debe calcular considerando la masa definida en 5.5.1.</a:t>
            </a:r>
            <a:endParaRPr lang="es-MX" sz="18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4CD49E3-440C-91E9-71D8-E5F724AEF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B3E861D-BC86-70C3-CA59-14F238F46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F367963-8248-57B0-A406-07A0286B7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03" y="1851041"/>
            <a:ext cx="10255658" cy="91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568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E4A2-8A5E-3FA0-E363-9F721277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43CA1F-FF80-DC62-C25A-321B43C5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Diseño en Acero</a:t>
            </a:r>
            <a:endParaRPr lang="es-CL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7FE9AAE-263D-ACE4-46B4-7FED9AE890BC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A0D19C76-C8D4-5A84-46D7-01FCC586B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833" y="1153961"/>
            <a:ext cx="10519308" cy="4334924"/>
          </a:xfrm>
        </p:spPr>
        <p:txBody>
          <a:bodyPr>
            <a:normAutofit/>
          </a:bodyPr>
          <a:lstStyle/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</a:p>
          <a:p>
            <a:pPr marL="0" indent="0">
              <a:buNone/>
            </a:pPr>
            <a:r>
              <a:rPr lang="es-MX" sz="2000" dirty="0"/>
              <a:t>5.3.3 Estructuras de acero, según las disposiciones de </a:t>
            </a:r>
            <a:r>
              <a:rPr lang="es-MX" sz="2000" b="1" dirty="0"/>
              <a:t>NCh427/1,</a:t>
            </a:r>
            <a:r>
              <a:rPr lang="es-MX" sz="2000" dirty="0"/>
              <a:t> complementadas con las disposiciones de </a:t>
            </a:r>
            <a:r>
              <a:rPr lang="es-MX" sz="2000" b="1" dirty="0"/>
              <a:t>ANSI/AISC341-22 </a:t>
            </a:r>
            <a:r>
              <a:rPr lang="es-MX" sz="2000" dirty="0"/>
              <a:t>para el diseño sísmico. El factor de sobre resistencia (Ω0) a utilizar debe ser 2 para sistemas arriostrados y 3 para sistemas de marcos resistentes a momento.</a:t>
            </a:r>
            <a:endParaRPr lang="es-CL" sz="2000" dirty="0"/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8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9F4E1C-96E5-D05F-6363-57F589BB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654137E-08D4-C4FA-00FA-9A5DB3AA9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41A6C54-A5ED-4DA3-2295-8D1A7BC1D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01" y="1839562"/>
            <a:ext cx="9734370" cy="54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97054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032C-7D77-695A-7C55-E35865AB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624E610-BC3B-1101-F32B-CC08680BF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Clasificación Sísmica del Sitio de Fundación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FAB455-CDCE-2F49-5CCF-F3B6685B0BAD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255A81E6-6A09-D894-1C1A-081B67C60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92" y="1352144"/>
            <a:ext cx="5561212" cy="4085618"/>
          </a:xfrm>
        </p:spPr>
        <p:txBody>
          <a:bodyPr>
            <a:normAutofit fontScale="92500"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2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Considera parámetros representan </a:t>
            </a:r>
          </a:p>
          <a:p>
            <a:pPr lvl="1">
              <a:lnSpc>
                <a:spcPct val="110000"/>
              </a:lnSpc>
            </a:pP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Propiedades de </a:t>
            </a:r>
            <a:r>
              <a:rPr lang="es-MX" sz="2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resistencia</a:t>
            </a: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 de los suelos como, </a:t>
            </a:r>
          </a:p>
          <a:p>
            <a:pPr lvl="2">
              <a:lnSpc>
                <a:spcPct val="110000"/>
              </a:lnSpc>
            </a:pP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Resistencia a compresión (</a:t>
            </a:r>
            <a:r>
              <a:rPr lang="es-MX" sz="2200" kern="100" dirty="0" err="1">
                <a:latin typeface="Rockwell" panose="02060603020205020403" pitchFamily="18" charset="0"/>
                <a:cs typeface="Arial" panose="020B0604020202020204" pitchFamily="34" charset="0"/>
              </a:rPr>
              <a:t>qu</a:t>
            </a: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)</a:t>
            </a:r>
          </a:p>
          <a:p>
            <a:pPr lvl="2">
              <a:lnSpc>
                <a:spcPct val="110000"/>
              </a:lnSpc>
            </a:pP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índice de penetración estándar (N1)</a:t>
            </a:r>
          </a:p>
          <a:p>
            <a:pPr lvl="2">
              <a:lnSpc>
                <a:spcPct val="110000"/>
              </a:lnSpc>
            </a:pP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resistencia corte no-drenada</a:t>
            </a:r>
            <a:r>
              <a:rPr lang="es-MX" sz="1600" dirty="0">
                <a:latin typeface="Rockwell" panose="02060603020205020403" pitchFamily="18" charset="0"/>
              </a:rPr>
              <a:t>. (Su)</a:t>
            </a:r>
            <a:endParaRPr lang="es-MX" sz="16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Propiedades de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Rigidez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dinámica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 Vs30.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CL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4BD2468-520C-FD82-34F6-4D65C0A8D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2977369-B9CF-F9E7-F711-AC5FC01B2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E06C137-461A-8462-3582-5CE705B97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404" y="1432075"/>
            <a:ext cx="5924104" cy="440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20DE-4D7B-E6A5-03D4-155152F07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F6D14FF-A669-60B0-2ADE-9055A43F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Clasificación Sísmica del Sitio de Fundación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F622744-4EF8-25A6-FA27-717FA3254722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D85BEC99-1DAE-2560-F73C-08D471518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92" y="1352144"/>
            <a:ext cx="4500930" cy="3971796"/>
          </a:xfrm>
        </p:spPr>
        <p:txBody>
          <a:bodyPr>
            <a:normAutofit lnSpcReduction="10000"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sz="2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</a:p>
          <a:p>
            <a:pPr marL="457200" lvl="1" indent="0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Se considera solo propiedades de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Rigidez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dinámica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y se agrega el efecto 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Sitio.</a:t>
            </a:r>
          </a:p>
          <a:p>
            <a:pPr marL="457200" lvl="1" indent="0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La velocidad de propagación de ondas de corte de los 30 m superiores del suelo, Vs30, y el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período predominante de vibración del sitio, </a:t>
            </a:r>
            <a:r>
              <a:rPr lang="es-MX" sz="2000" b="1" kern="100" dirty="0" err="1">
                <a:latin typeface="Rockwell" panose="02060603020205020403" pitchFamily="18" charset="0"/>
                <a:cs typeface="Arial" panose="020B0604020202020204" pitchFamily="34" charset="0"/>
              </a:rPr>
              <a:t>Tg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.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CL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9C1979-592D-B95F-00B1-960C5859D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D8DB762-8530-C4A6-FD5B-0C8BE03D4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2" name="Imagen 1" descr="Tabla&#10;&#10;El contenido generado por IA puede ser incorrecto.">
            <a:extLst>
              <a:ext uri="{FF2B5EF4-FFF2-40B4-BE49-F238E27FC236}">
                <a16:creationId xmlns:a16="http://schemas.microsoft.com/office/drawing/2014/main" id="{D0003902-F305-5F4A-23F6-01BFC9653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932" y="1183341"/>
            <a:ext cx="7466992" cy="332572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48FCCAC-BA3F-E214-D054-D48585BDEBBA}"/>
              </a:ext>
            </a:extLst>
          </p:cNvPr>
          <p:cNvSpPr txBox="1"/>
          <p:nvPr/>
        </p:nvSpPr>
        <p:spPr>
          <a:xfrm>
            <a:off x="4744122" y="4550485"/>
            <a:ext cx="66804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Se considera el valor de Vs30 del sitio y se verifica la clasificación con el cumplimiento del período predominante, </a:t>
            </a:r>
            <a:r>
              <a:rPr lang="es-MX" sz="2000" kern="100" dirty="0" err="1">
                <a:latin typeface="Rockwell" panose="02060603020205020403" pitchFamily="18" charset="0"/>
                <a:cs typeface="Arial" panose="020B0604020202020204" pitchFamily="34" charset="0"/>
              </a:rPr>
              <a:t>Tg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, En el caso que </a:t>
            </a:r>
            <a:r>
              <a:rPr lang="es-CL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no se cumpla,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debe ser degradada en un </a:t>
            </a:r>
            <a:r>
              <a:rPr lang="es-CL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nivel.</a:t>
            </a:r>
          </a:p>
        </p:txBody>
      </p:sp>
    </p:spTree>
    <p:extLst>
      <p:ext uri="{BB962C8B-B14F-4D97-AF65-F5344CB8AC3E}">
        <p14:creationId xmlns:p14="http://schemas.microsoft.com/office/powerpoint/2010/main" val="9891951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9E177-1EA1-1218-2B74-BCF3A567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BA04BA-1B0D-9FBD-7A3F-2150073C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Clasificación Sísmica del Sitio de Fundación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6C8CC48-FA88-5D17-E940-00164BC8B5BD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B7E1F4E8-C8E4-DC67-9C10-F5B73886A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86" y="1147864"/>
            <a:ext cx="10894979" cy="4933440"/>
          </a:xfrm>
        </p:spPr>
        <p:txBody>
          <a:bodyPr>
            <a:normAutofit fontScale="62500" lnSpcReduction="20000"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sz="38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Sitios Tipo F 	(Suelos Especiales)</a:t>
            </a:r>
          </a:p>
          <a:p>
            <a:r>
              <a:rPr lang="es-MX" sz="3600" b="1" dirty="0">
                <a:latin typeface="Rockwell" panose="02060603020205020403" pitchFamily="18" charset="0"/>
              </a:rPr>
              <a:t>4.2.1.2 </a:t>
            </a:r>
            <a:r>
              <a:rPr lang="es-MX" sz="3600" kern="100" dirty="0">
                <a:latin typeface="Rockwell" panose="02060603020205020403" pitchFamily="18" charset="0"/>
                <a:cs typeface="Arial" panose="020B0604020202020204" pitchFamily="34" charset="0"/>
              </a:rPr>
              <a:t>Por sus características singulares, los sitios </a:t>
            </a:r>
            <a:r>
              <a:rPr lang="es-MX" sz="36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Tipo F requieren estudios específicos</a:t>
            </a:r>
            <a:r>
              <a:rPr lang="es-MX" sz="3600" kern="100" dirty="0">
                <a:latin typeface="Rockwell" panose="02060603020205020403" pitchFamily="18" charset="0"/>
                <a:cs typeface="Arial" panose="020B0604020202020204" pitchFamily="34" charset="0"/>
              </a:rPr>
              <a:t> para determinar espectros de diseño. Los sitios Tipo F </a:t>
            </a:r>
            <a:r>
              <a:rPr lang="es-CL" sz="3600" kern="100" dirty="0">
                <a:latin typeface="Rockwell" panose="02060603020205020403" pitchFamily="18" charset="0"/>
                <a:cs typeface="Arial" panose="020B0604020202020204" pitchFamily="34" charset="0"/>
              </a:rPr>
              <a:t>incluyen:</a:t>
            </a:r>
          </a:p>
          <a:p>
            <a:pPr>
              <a:lnSpc>
                <a:spcPct val="100000"/>
              </a:lnSpc>
            </a:pPr>
            <a:endParaRPr lang="es-CL" sz="32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s-CL" sz="3200" kern="100" dirty="0">
                <a:latin typeface="Rockwell" panose="02060603020205020403" pitchFamily="18" charset="0"/>
                <a:cs typeface="Arial" panose="020B0604020202020204" pitchFamily="34" charset="0"/>
              </a:rPr>
              <a:t>b) Suelos potencialmente </a:t>
            </a:r>
            <a:r>
              <a:rPr lang="es-CL" sz="3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licuables.</a:t>
            </a:r>
            <a:endParaRPr lang="es-MX" sz="3200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endParaRPr lang="es-MX" sz="32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s-MX" sz="3200" kern="100" dirty="0">
                <a:latin typeface="Rockwell" panose="02060603020205020403" pitchFamily="18" charset="0"/>
                <a:cs typeface="Arial" panose="020B0604020202020204" pitchFamily="34" charset="0"/>
              </a:rPr>
              <a:t>h) Configuraciones de estratos de </a:t>
            </a:r>
            <a:r>
              <a:rPr lang="es-MX" sz="3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suelos contiguos de rigideces muy diferentes</a:t>
            </a:r>
            <a:r>
              <a:rPr lang="es-MX" sz="3200" kern="100" dirty="0">
                <a:latin typeface="Rockwell" panose="02060603020205020403" pitchFamily="18" charset="0"/>
                <a:cs typeface="Arial" panose="020B0604020202020204" pitchFamily="34" charset="0"/>
              </a:rPr>
              <a:t>, tal que la amplitud de la razón espectral H/V en la vecindad de </a:t>
            </a:r>
            <a:r>
              <a:rPr lang="es-MX" sz="3200" kern="100" dirty="0" err="1">
                <a:latin typeface="Rockwell" panose="02060603020205020403" pitchFamily="18" charset="0"/>
                <a:cs typeface="Arial" panose="020B0604020202020204" pitchFamily="34" charset="0"/>
              </a:rPr>
              <a:t>Tg</a:t>
            </a:r>
            <a:r>
              <a:rPr lang="es-MX" sz="3200" kern="100" dirty="0">
                <a:latin typeface="Rockwell" panose="02060603020205020403" pitchFamily="18" charset="0"/>
                <a:cs typeface="Arial" panose="020B0604020202020204" pitchFamily="34" charset="0"/>
              </a:rPr>
              <a:t>, estimada según NCh3793, debe ser mayor que 4.5. Estas configuraciones deben incluir un estrato con una velocidad de propagación de la onda de corte mayor o igual a 650 m/s, dentro de una profundidad menor que o igual a 25 m.</a:t>
            </a:r>
          </a:p>
          <a:p>
            <a:pPr marL="0" indent="0">
              <a:lnSpc>
                <a:spcPct val="100000"/>
              </a:lnSpc>
              <a:buNone/>
            </a:pPr>
            <a:endParaRPr lang="es-MX" sz="32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r>
              <a:rPr lang="es-MX" sz="3200" kern="100" dirty="0">
                <a:latin typeface="Rockwell" panose="02060603020205020403" pitchFamily="18" charset="0"/>
                <a:cs typeface="Arial" panose="020B0604020202020204" pitchFamily="34" charset="0"/>
              </a:rPr>
              <a:t>i) </a:t>
            </a:r>
            <a:r>
              <a:rPr lang="es-MX" sz="3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Terrenos con topografía irregular</a:t>
            </a:r>
            <a:r>
              <a:rPr lang="es-MX" sz="3200" kern="100" dirty="0">
                <a:latin typeface="Rockwell" panose="02060603020205020403" pitchFamily="18" charset="0"/>
                <a:cs typeface="Arial" panose="020B0604020202020204" pitchFamily="34" charset="0"/>
              </a:rPr>
              <a:t>, donde pueden existir fenómenos de amplificación local, los cuales no están cubiertos por la </a:t>
            </a:r>
            <a:r>
              <a:rPr lang="es-CL" sz="3200" kern="100" dirty="0">
                <a:latin typeface="Rockwell" panose="02060603020205020403" pitchFamily="18" charset="0"/>
                <a:cs typeface="Arial" panose="020B0604020202020204" pitchFamily="34" charset="0"/>
              </a:rPr>
              <a:t>clasificación</a:t>
            </a:r>
            <a:r>
              <a:rPr lang="es-CL" sz="3200" dirty="0"/>
              <a:t>.</a:t>
            </a:r>
            <a:endParaRPr lang="es-MX" sz="32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CL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B9A181C-4342-395A-94AD-EAEE5482D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BF008D8-1369-AD13-7F7E-84A3F96EE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02638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0BD5A-6C0A-A40B-640B-68C036D9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97A7F20-F875-1A07-1BA1-3ACEAB59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Clasificación Sísmica del Sitio de Fundación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95B9EEE-FD91-5121-1049-A68DA3AA0976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17AF4CFA-74F7-1606-6487-CDECD6CD3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CBD6E99-84A7-0B78-DBAF-1A1FE1B25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635AFAA-DC1A-9370-2D75-A8894772A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56268" y="2795322"/>
            <a:ext cx="10548991" cy="326975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3B17DE1-F9DB-4372-CB55-A93B146CDF4E}"/>
              </a:ext>
            </a:extLst>
          </p:cNvPr>
          <p:cNvSpPr txBox="1"/>
          <p:nvPr/>
        </p:nvSpPr>
        <p:spPr>
          <a:xfrm>
            <a:off x="653375" y="1124596"/>
            <a:ext cx="998868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j) Sitios con fallas geológicas corticales </a:t>
            </a:r>
            <a:r>
              <a:rPr lang="es-CL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activas, caracterizadas cuantitativamente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y públicamente identificadas, con trazas </a:t>
            </a:r>
            <a:r>
              <a:rPr lang="es-CL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localizadas a distancias iguales o menores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a las indicadas en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Tabla 4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. La clasificación </a:t>
            </a:r>
            <a:r>
              <a:rPr lang="es-CL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de sitio F por presencia de fallas corticales activas solo aplica para edificios o estructuras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clasificados como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Categoría de Ocupación III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o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IV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 de acuerdo con lo establecido en </a:t>
            </a:r>
            <a:r>
              <a:rPr lang="es-CL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4.3.1.</a:t>
            </a: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75322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EB1A6-D584-3F1C-3E9C-C710BB3E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B4A4F1B-F8C5-31D0-BFAD-FDA4B17F6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Clasificación Sísmica del Sitio de Fundación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455BC75-7F0B-9BC0-E383-49F91308207E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E53513D2-4899-D3AB-5397-0A97BC451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11" y="1352144"/>
            <a:ext cx="9025666" cy="4516330"/>
          </a:xfrm>
        </p:spPr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Si los suelos mencionados anteriormente (tipo F)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se mejoran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mediante un procedimiento geotécnico calificado, la demanda y respuesta sísmica del sitio se deben calcular incluyendo las propiedades características del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suelo mejorado. </a:t>
            </a:r>
          </a:p>
          <a:p>
            <a:pPr marL="0" lvl="1" indent="0">
              <a:spcBef>
                <a:spcPts val="1000"/>
              </a:spcBef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MX" kern="100" dirty="0">
                <a:latin typeface="Rockwell" panose="02060603020205020403" pitchFamily="18" charset="0"/>
                <a:cs typeface="Arial" panose="020B0604020202020204" pitchFamily="34" charset="0"/>
              </a:rPr>
              <a:t>Notas Tabla 2:</a:t>
            </a:r>
          </a:p>
          <a:p>
            <a:pPr marL="0" indent="0">
              <a:buNone/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Las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gravas fluviales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de espesor mayor o igual a 30 m (medidos a partir de la superficie natural), clasifican en Suelo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Tipo B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sin necesidad de medir Vs30 ni presentar la descripción estratigráfica detallada.</a:t>
            </a:r>
          </a:p>
          <a:p>
            <a:pPr marL="0" indent="0">
              <a:buNone/>
            </a:pPr>
            <a:endParaRPr lang="es-CL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BB3898-BD54-04D6-36E4-B78DD06FD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B65864C-B009-9EB3-C575-CB9FC5E40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7376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87456-227F-92BB-81D2-BC1720A7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7794283-06C0-E9D7-1235-1A8EAEF7F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54365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Estudios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 de </a:t>
            </a: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Amenaza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 </a:t>
            </a: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Sísmica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AF05135-7147-06E1-763F-BDC232826907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B2691678-EF4D-381C-9345-797ACDBCB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92" y="1352144"/>
            <a:ext cx="11603368" cy="4516330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Suelos Especiales (Tipo F)</a:t>
            </a:r>
          </a:p>
          <a:p>
            <a:pPr marL="0" indent="0">
              <a:buNone/>
            </a:pP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Se consideran Suelos Especiales (Tipo F) aquellos que presentan singularidades en su comportamiento mecánico y por tanto requieren estudios geotécnicos </a:t>
            </a:r>
            <a:r>
              <a:rPr lang="es-CL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especiales.</a:t>
            </a:r>
            <a:endParaRPr lang="es-MX" sz="22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	</a:t>
            </a: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6.3.4.5 Estudios de amenaza sísmica de sitio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Para </a:t>
            </a:r>
            <a:r>
              <a:rPr lang="es-MX" sz="2200" u="sng" kern="100" dirty="0">
                <a:latin typeface="Rockwell" panose="02060603020205020403" pitchFamily="18" charset="0"/>
                <a:cs typeface="Arial" panose="020B0604020202020204" pitchFamily="34" charset="0"/>
              </a:rPr>
              <a:t>los sitios </a:t>
            </a: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Tipo A, B, C, D y E, se permite reemplazar el espectro normativo por un espectro de sitio derivado de estudios de amenaza sísmica, cumpliendo las disposiciones ……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CL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Para cada período, el valor espectral obtenido </a:t>
            </a:r>
            <a:r>
              <a:rPr lang="es-MX" sz="2200" kern="100" dirty="0">
                <a:latin typeface="Rockwell" panose="02060603020205020403" pitchFamily="18" charset="0"/>
                <a:cs typeface="Arial" panose="020B0604020202020204" pitchFamily="34" charset="0"/>
              </a:rPr>
              <a:t>no debe ser menor que 75% del valor normativo        definido para el tipo de sitio correspondiente.</a:t>
            </a:r>
            <a:endParaRPr lang="es-CL" sz="22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5E882A-CFC1-0A69-04CE-AAEEBF61F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A3A5B0E-49A5-B614-D028-D32CF593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6317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ACE24-0A14-9F79-34F6-FA677DBE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786499E-7306-F266-BD53-D80AE813E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Requerimiento de sondajes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F129722-5954-D480-2249-2933F6479191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C247EB5A-D2EC-72EE-B69A-F638BB2D0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71" y="1315961"/>
            <a:ext cx="9025666" cy="4516330"/>
          </a:xfrm>
        </p:spPr>
        <p:txBody>
          <a:bodyPr>
            <a:normAutofit fontScale="40000" lnSpcReduction="20000"/>
          </a:bodyPr>
          <a:lstStyle/>
          <a:p>
            <a:pPr marL="457200" lvl="1" indent="0">
              <a:lnSpc>
                <a:spcPct val="130000"/>
              </a:lnSpc>
              <a:buNone/>
            </a:pPr>
            <a:r>
              <a:rPr lang="es-MX" sz="51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Artículo 7º.- Situaciones transitorias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……., el Ingeniero Especialista en Mecánica de Suelos, bajo su responsabilidad técnica, para establecer la clasificación sísmica del subsuelo </a:t>
            </a:r>
            <a:r>
              <a:rPr lang="es-MX" sz="4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puede prescindir </a:t>
            </a: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de la </a:t>
            </a:r>
            <a:r>
              <a:rPr lang="es-MX" sz="4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exploración de 30 metros de profundidad </a:t>
            </a: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que requiere para establecer valores de N-SPT, </a:t>
            </a:r>
            <a:r>
              <a:rPr lang="es-MX" sz="4200" kern="100" dirty="0" err="1">
                <a:latin typeface="Rockwell" panose="02060603020205020403" pitchFamily="18" charset="0"/>
                <a:cs typeface="Arial" panose="020B0604020202020204" pitchFamily="34" charset="0"/>
              </a:rPr>
              <a:t>qu</a:t>
            </a: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, o Su, según corresponda.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Esta disposición será válida por un período de </a:t>
            </a:r>
            <a:r>
              <a:rPr lang="es-MX" sz="4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18 meses </a:t>
            </a: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desde la fecha de entrada en vigencia del presente decreto.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42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No podrán acogerse a esta disposición las estructuras clasificadas según su uso como Tipo III o IV, a excepción de: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- Aquellas que cumplen con ser menores a 500 metros cuadrados construidos y, además, no superior a 2 niveles y/o pisos y de una altura total menor a 8 metros.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s-MX" sz="4200" kern="100" dirty="0">
                <a:latin typeface="Rockwell" panose="02060603020205020403" pitchFamily="18" charset="0"/>
                <a:cs typeface="Arial" panose="020B0604020202020204" pitchFamily="34" charset="0"/>
              </a:rPr>
              <a:t>- Aquellas correspondientes a galpones metálicos y no prefabricados, de un piso, de menos de 3.000 metros cuadrados construidos. </a:t>
            </a:r>
          </a:p>
          <a:p>
            <a:pPr marL="0" indent="0">
              <a:buNone/>
            </a:pPr>
            <a:endParaRPr lang="es-CL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490BE8A-1308-AA77-9914-CB06FC1D8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7B09181-36DF-CB61-BE95-A7EED96B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5335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24AB-3D0E-CC96-494C-B45469073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417B422-DB54-3890-E1D4-7DBB48F01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Requerimiento de sondajes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29071C0-3B37-97D9-8D31-26F6052C859B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32B7CC34-0270-8187-913D-BAC58FDB0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71" y="1315961"/>
            <a:ext cx="9025666" cy="4516330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NCh433:2026 </a:t>
            </a:r>
          </a:p>
          <a:p>
            <a:pPr marL="0" indent="0">
              <a:buNone/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4.2.1.3 La estratigrafía se debe determinar a través de la ejecución, como mínimo, de un sondaje geotécnico de 30 m de profundidad, con toma de muestras. Se exceptúan de este requisito:</a:t>
            </a:r>
          </a:p>
          <a:p>
            <a:pPr marL="0" indent="0">
              <a:buNone/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— Estructuras de menos de 500 m2 construidos, de no más de 2 niveles y con una altura menor a 8 m, independiente de su clasificación de uso.</a:t>
            </a:r>
          </a:p>
          <a:p>
            <a:pPr marL="0" indent="0">
              <a:buNone/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— Conjunto de viviendas en terreno de menos de 8 000 m2, donde cada unidad es de no más de 2 niveles y de menos de 200 m2 construidos.</a:t>
            </a:r>
            <a:endParaRPr lang="es-CL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3F09100-C57C-6BCB-ECF6-7A5C4C543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558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657BDD5-6C17-C6B2-FBB3-B6F5DA578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69240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3EFD-235F-4C3A-3E5C-F6445380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EC0600C-417B-5CE4-7F73-414A7D40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54365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Categorías de Ocupación de Edificios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F0D2308-930D-A5A2-ED6E-BE77D3703FF8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2572C4EF-A218-18E8-0701-5DC0E67E1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426" y="1066949"/>
            <a:ext cx="11599134" cy="4942355"/>
          </a:xfrm>
        </p:spPr>
        <p:txBody>
          <a:bodyPr>
            <a:normAutofit fontScale="77500" lnSpcReduction="20000"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sz="25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Categoría III  (Estructuras Importantes)                 </a:t>
            </a:r>
            <a:r>
              <a:rPr lang="es-MX" sz="2500" kern="100" dirty="0">
                <a:latin typeface="Rockwell" panose="02060603020205020403" pitchFamily="18" charset="0"/>
                <a:cs typeface="Arial" panose="020B0604020202020204" pitchFamily="34" charset="0"/>
              </a:rPr>
              <a:t>Factor de Importancia I:1.2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 – Tabla </a:t>
            </a:r>
            <a:r>
              <a:rPr lang="es-MX" b="1" kern="100" dirty="0" err="1">
                <a:latin typeface="Rockwell" panose="02060603020205020403" pitchFamily="18" charset="0"/>
                <a:cs typeface="Arial" panose="020B0604020202020204" pitchFamily="34" charset="0"/>
              </a:rPr>
              <a:t>n°</a:t>
            </a: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 3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	</a:t>
            </a:r>
            <a:r>
              <a:rPr lang="es-MX" sz="2600" kern="100" dirty="0">
                <a:latin typeface="Rockwell" panose="02060603020205020403" pitchFamily="18" charset="0"/>
                <a:cs typeface="Arial" panose="020B0604020202020204" pitchFamily="34" charset="0"/>
              </a:rPr>
              <a:t>b) Estructuras que pueden generar aglomeraciones de personas por su uso, que incluyen:</a:t>
            </a:r>
          </a:p>
          <a:p>
            <a:pPr marL="571500" lvl="2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600" kern="100" dirty="0">
                <a:latin typeface="Rockwell" panose="02060603020205020403" pitchFamily="18" charset="0"/>
                <a:cs typeface="Arial" panose="020B0604020202020204" pitchFamily="34" charset="0"/>
              </a:rPr>
              <a:t>i. Estadios y graderías al aire libre para más de 3 000 personas.</a:t>
            </a:r>
          </a:p>
          <a:p>
            <a:pPr marL="571500" lvl="2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600" kern="100" dirty="0" err="1">
                <a:latin typeface="Rockwell" panose="02060603020205020403" pitchFamily="18" charset="0"/>
                <a:cs typeface="Arial" panose="020B0604020202020204" pitchFamily="34" charset="0"/>
              </a:rPr>
              <a:t>ii</a:t>
            </a:r>
            <a:r>
              <a:rPr lang="es-MX" sz="2600" kern="100" dirty="0">
                <a:latin typeface="Rockwell" panose="02060603020205020403" pitchFamily="18" charset="0"/>
                <a:cs typeface="Arial" panose="020B0604020202020204" pitchFamily="34" charset="0"/>
              </a:rPr>
              <a:t>. Cines, restaurantes, pubs, auditorios y salas de asambleas por un total de más de 1 500 personas</a:t>
            </a:r>
            <a:r>
              <a:rPr lang="es-MX" sz="2300" kern="100" dirty="0">
                <a:latin typeface="Rockwell" panose="02060603020205020403" pitchFamily="18" charset="0"/>
                <a:cs typeface="Arial" panose="020B0604020202020204" pitchFamily="34" charset="0"/>
              </a:rPr>
              <a:t>.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CL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9A7BC6-DDF8-A599-B8F6-835CE2778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8FAE08D-4D5B-479F-065C-238B39233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C468604-AFA5-267C-E886-1867969A6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96" y="2015051"/>
            <a:ext cx="10063985" cy="1413949"/>
          </a:xfrm>
          <a:prstGeom prst="rect">
            <a:avLst/>
          </a:prstGeom>
        </p:spPr>
      </p:pic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2524CA05-D818-1C5B-4418-CB7FAD8122D4}"/>
              </a:ext>
            </a:extLst>
          </p:cNvPr>
          <p:cNvCxnSpPr/>
          <p:nvPr/>
        </p:nvCxnSpPr>
        <p:spPr>
          <a:xfrm>
            <a:off x="5544766" y="1254868"/>
            <a:ext cx="7684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769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FAA5D-1BF3-6AB7-61D1-6CA5D13D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EFF0299-E7D2-4EF6-FC46-94FF98E61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048" y="347126"/>
            <a:ext cx="8660802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Deformación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 de </a:t>
            </a:r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entrepiso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78EC2D2-71B3-DDDD-C021-280C299F6582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7EEB8905-AFD7-D5EB-0B67-CF8E1CD49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316" y="1348433"/>
            <a:ext cx="11603368" cy="4732871"/>
          </a:xfrm>
        </p:spPr>
        <p:txBody>
          <a:bodyPr>
            <a:normAutofit lnSpcReduction="10000"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	5.9.2 El desplazamiento relativo máximo entre dos niveles consecutivos, medido en el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centro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de masas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en cada una de las direcciones de análisis, no debe ser mayor que:</a:t>
            </a:r>
          </a:p>
          <a:p>
            <a:pPr marL="114300" lvl="1" indent="0" defTabSz="457200">
              <a:lnSpc>
                <a:spcPct val="10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Estructuras de Hormigón Armado:		0.0020 h</a:t>
            </a:r>
          </a:p>
          <a:p>
            <a:pPr marL="114300" lvl="1" indent="0" defTabSz="457200">
              <a:lnSpc>
                <a:spcPct val="10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Estructuras de Acero					0.0025 h</a:t>
            </a:r>
          </a:p>
          <a:p>
            <a:pPr marL="114300" lvl="1" indent="0" defTabSz="457200">
              <a:lnSpc>
                <a:spcPct val="10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Estructuras de Madera (Marco Plataforma) 	0.0025 h,  otros : 0.0020 h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CL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Estructuras de Albañilería				0.0020 h						(h: Altura de entrepiso)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A14DC1-763A-5747-1F49-98E90D07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F9FEFD4-C618-787C-0E12-A2C8CB5F1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1BF8E08-7C74-BC8A-C8B2-05A4EC2A0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" y="1911167"/>
            <a:ext cx="10534934" cy="96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3429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1B8FE-85A0-513E-D20F-B41C28AD5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36CCB44-E9F2-84E7-7B45-4588D1D19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22020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MX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Elementos No Estructurales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13292A4-550C-E14E-B6D2-6EB5F854A692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CFA591A2-0248-4572-1716-00F06B528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192" y="1352144"/>
            <a:ext cx="11603368" cy="4516330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433.OF1996 Modificada en 2009 + D.S. 61 2011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r>
              <a:rPr lang="es-MX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	1.2 Esta norma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no se aplica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al diseño sísmico de elementos y sistemas no estructurales, como tampoco a sus componentes, soportes y fijaciones.   </a:t>
            </a: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14300" lvl="1" indent="0" defTabSz="45720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s-CL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BD56B7-CD02-593E-8297-DB074C446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4D606F9-24D8-DF95-F1E7-BAA318525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6E6ED5-FC47-C0F5-40F4-31D7725C1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27" y="1979408"/>
            <a:ext cx="9154231" cy="197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455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0DD0-A8EB-C61E-07AB-C521D696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B4C0858-CD06-5527-FB98-EE92BACC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54365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Oficialización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715BB41-BE3A-C204-FC3D-B3EDA756EAF1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B5B112AF-E218-01AD-D9CA-0A73BF815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316" y="1352144"/>
            <a:ext cx="11603368" cy="4516330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Con fecha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10 de Agosto de 2026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se publicó en el diario Oficial el DS N°28 MINVU, que establece: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CE6E057-5615-030B-D0DA-774F9AF6B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B6091EF-164B-C0E6-C6FF-2F95D8A4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B8159D0-DB3F-DC8E-412B-504F994AE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264" y="2015052"/>
            <a:ext cx="9591472" cy="14038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31E008A-4606-6A2C-4572-7CBFF75A5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622" y="3837150"/>
            <a:ext cx="9591472" cy="10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67336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8389-F2FA-E904-07AD-C4FE12E82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5C70E4C-FE72-0A72-83B4-C11F11B1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54365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Oficialización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8070AD-0377-286A-C743-ADADF27A2162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E4B0FF73-2639-DCB8-A852-65ACDB7E2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316" y="1352144"/>
            <a:ext cx="11603368" cy="4516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3.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En virtud de la aprobación dispuesta por el resuelvo primero anterior, </a:t>
            </a:r>
            <a:r>
              <a:rPr lang="es-MX" sz="2000" b="1" kern="100" dirty="0" err="1">
                <a:latin typeface="Rockwell" panose="02060603020205020403" pitchFamily="18" charset="0"/>
                <a:cs typeface="Arial" panose="020B0604020202020204" pitchFamily="34" charset="0"/>
              </a:rPr>
              <a:t>déjase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 sin efecto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la declaración como Norma Oficial de la República de Chile de la NCh433:2010 Diseño sísmico de </a:t>
            </a:r>
            <a:r>
              <a:rPr lang="es-CL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edificios, declarada Norma Oficial de la República por decreto exento </a:t>
            </a:r>
            <a:r>
              <a:rPr lang="es-CL" sz="2000" kern="100" dirty="0" err="1">
                <a:latin typeface="Rockwell" panose="02060603020205020403" pitchFamily="18" charset="0"/>
                <a:cs typeface="Arial" panose="020B0604020202020204" pitchFamily="34" charset="0"/>
              </a:rPr>
              <a:t>N°</a:t>
            </a:r>
            <a:r>
              <a:rPr lang="es-CL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 406, de fecha 8 de 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junio de 2010, del Ministerio de Vivienda y Urbanismo, publicado en el Diario Oficial el 12 de junio de 2010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, una vez cumplido el plazo a que se refiere el resuelvo segundo anterior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.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s-MX" b="1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E4B9D1-CE5E-0D98-366E-1276C45EC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35D05D8-61B9-C99D-D9A2-E8ECE3BDD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5BC1D66-651C-02FE-87AD-518AC637E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85" y="3168673"/>
            <a:ext cx="8079597" cy="282692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9322C30-52D5-0935-3BCD-300AFD9EC02E}"/>
              </a:ext>
            </a:extLst>
          </p:cNvPr>
          <p:cNvSpPr txBox="1"/>
          <p:nvPr/>
        </p:nvSpPr>
        <p:spPr>
          <a:xfrm>
            <a:off x="9022120" y="5349269"/>
            <a:ext cx="192149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200" dirty="0"/>
              <a:t>Fuente: Presentación Abogado Aristóteles Cortés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349656118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64C3-53DD-F9C7-CA1F-839E0188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0AF7694-9EF5-DCBB-B636-3B713AC2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54365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Responsabilidades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ockwell" panose="02060603020205020403" pitchFamily="18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704552D-8E21-1A2C-BB75-1A0668ADA568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" name="Marcador de contenido 2">
            <a:extLst>
              <a:ext uri="{FF2B5EF4-FFF2-40B4-BE49-F238E27FC236}">
                <a16:creationId xmlns:a16="http://schemas.microsoft.com/office/drawing/2014/main" id="{5667E7FA-7279-0AE9-863A-048F1FD8A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480" y="1066949"/>
            <a:ext cx="8443798" cy="49418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B4C095A-27D2-0A72-7BE6-981F3AA27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5CE004C-FDEE-488A-8ACC-B1E4FDEE8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C68651C-7E13-1F82-B752-9A2308B8127D}"/>
              </a:ext>
            </a:extLst>
          </p:cNvPr>
          <p:cNvSpPr txBox="1"/>
          <p:nvPr/>
        </p:nvSpPr>
        <p:spPr>
          <a:xfrm>
            <a:off x="9615507" y="5406809"/>
            <a:ext cx="192149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200" dirty="0"/>
              <a:t>Fuente: Presentación Abogado Aristóteles Cortés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4215399735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5BE1-5A5B-7AC8-CE2F-FB29CD66F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B04F3FC-6B40-0F8F-798A-E9F09CAF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543650" cy="660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Conclusiones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ckwell" panose="02060603020205020403" pitchFamily="18" charset="0"/>
              </a:rPr>
              <a:t> :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A63220B-6222-DBE8-D1CC-EBC7BEB846A2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86A8412F-909C-C885-C9DF-C222BFFB9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3" y="1102949"/>
            <a:ext cx="11631407" cy="4942355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10000"/>
              </a:lnSpc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Esta norma NCH 433:2026 se basa en la norma NCh 433.OF1996 Modificada en 2009 + Decreto Supremo 61 del MINVU de 2 de noviembre de 2011.</a:t>
            </a:r>
          </a:p>
          <a:p>
            <a:pPr lvl="1">
              <a:lnSpc>
                <a:spcPct val="200000"/>
              </a:lnSpc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La norma NCH 433:2026 mantiene el espectro de diseño de la versión anterior.</a:t>
            </a:r>
          </a:p>
          <a:p>
            <a:pPr lvl="1">
              <a:lnSpc>
                <a:spcPct val="200000"/>
              </a:lnSpc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Se incorpora la clasificación sísmica de sitio.</a:t>
            </a:r>
          </a:p>
          <a:p>
            <a:pPr lvl="1">
              <a:lnSpc>
                <a:spcPct val="2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Se incorpora los Estudios de amenaza sísmica para los sitios Tipo A, B, C, D y E.</a:t>
            </a:r>
          </a:p>
          <a:p>
            <a:pPr lvl="1">
              <a:lnSpc>
                <a:spcPct val="12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Se aumenta la deformación de entrepiso para estructuras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acero</a:t>
            </a: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 y de </a:t>
            </a:r>
            <a:r>
              <a:rPr lang="es-MX" sz="20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madera tipo Marco-Plataforma.</a:t>
            </a:r>
          </a:p>
          <a:p>
            <a:pPr lvl="1">
              <a:lnSpc>
                <a:spcPct val="11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Se eliminó del texto el diseño de elementos No Estructurales, el Diseño por Desempeño y la recuperación de Estructuras Existentes.</a:t>
            </a:r>
          </a:p>
          <a:p>
            <a:pPr lvl="1">
              <a:lnSpc>
                <a:spcPct val="11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MX" sz="2000" kern="100" dirty="0">
                <a:latin typeface="Rockwell" panose="02060603020205020403" pitchFamily="18" charset="0"/>
                <a:cs typeface="Arial" panose="020B0604020202020204" pitchFamily="34" charset="0"/>
              </a:rPr>
              <a:t>La norma NCh 433:2026 entra </a:t>
            </a:r>
            <a:r>
              <a:rPr lang="es-MX" sz="2000" kern="100">
                <a:latin typeface="Rockwell" panose="02060603020205020403" pitchFamily="18" charset="0"/>
                <a:cs typeface="Arial" panose="020B0604020202020204" pitchFamily="34" charset="0"/>
              </a:rPr>
              <a:t>en vigencia el 11 de Febrero de 2027</a:t>
            </a: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272C0CA-4306-6B5A-BEC8-62E9903C7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D7171DD-9C24-3E9F-49AE-6E43E083B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0187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F64B-312F-F43F-8265-D6F87B99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8727A99-5473-CEF0-0F13-944B5418B087}"/>
              </a:ext>
            </a:extLst>
          </p:cNvPr>
          <p:cNvCxnSpPr>
            <a:cxnSpLocks/>
          </p:cNvCxnSpPr>
          <p:nvPr/>
        </p:nvCxnSpPr>
        <p:spPr>
          <a:xfrm flipV="1">
            <a:off x="838200" y="989526"/>
            <a:ext cx="8918359" cy="36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0360B2D4-031D-389F-0910-5DDF188E7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53" y="1102949"/>
            <a:ext cx="11631407" cy="4942355"/>
          </a:xfrm>
        </p:spPr>
        <p:txBody>
          <a:bodyPr>
            <a:normAutofit/>
          </a:bodyPr>
          <a:lstStyle/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457200" lvl="1" indent="0" algn="ctr">
              <a:lnSpc>
                <a:spcPct val="110000"/>
              </a:lnSpc>
              <a:buNone/>
            </a:pPr>
            <a:r>
              <a:rPr lang="es-MX" sz="3600" kern="100" dirty="0">
                <a:latin typeface="Rockwell" panose="02060603020205020403" pitchFamily="18" charset="0"/>
                <a:cs typeface="Arial" panose="020B0604020202020204" pitchFamily="34" charset="0"/>
              </a:rPr>
              <a:t>MUCHAS GRACIAS !!!!</a:t>
            </a:r>
          </a:p>
          <a:p>
            <a:pPr lvl="1">
              <a:lnSpc>
                <a:spcPct val="11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371600" lvl="3" indent="0" algn="ctr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800" kern="100" dirty="0">
                <a:latin typeface="Rockwell" panose="02060603020205020403" pitchFamily="18" charset="0"/>
                <a:cs typeface="Arial" panose="020B0604020202020204" pitchFamily="34" charset="0"/>
              </a:rPr>
              <a:t>Lucio Ricke Gebauer</a:t>
            </a:r>
          </a:p>
          <a:p>
            <a:pPr marL="1371600" lvl="3" indent="0" algn="ctr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400" kern="100" dirty="0">
                <a:latin typeface="Rockwell" panose="02060603020205020403" pitchFamily="18" charset="0"/>
                <a:cs typeface="Arial" panose="020B0604020202020204" pitchFamily="34" charset="0"/>
              </a:rPr>
              <a:t>+569 9864 5343</a:t>
            </a:r>
          </a:p>
          <a:p>
            <a:pPr marL="1371600" lvl="3" indent="0" algn="ctr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400" kern="100" dirty="0">
                <a:latin typeface="Rockwell" panose="02060603020205020403" pitchFamily="18" charset="0"/>
                <a:cs typeface="Arial" panose="020B0604020202020204" pitchFamily="34" charset="0"/>
                <a:hlinkClick r:id="rId2"/>
              </a:rPr>
              <a:t>Mail: lricke@iec.cl</a:t>
            </a:r>
            <a:endParaRPr lang="es-MX" sz="24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  <a:p>
            <a:pPr marL="1371600" lvl="3" indent="0" algn="ctr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s-MX" sz="2400" kern="100" dirty="0">
                <a:latin typeface="Rockwell" panose="02060603020205020403" pitchFamily="18" charset="0"/>
                <a:cs typeface="Arial" panose="020B0604020202020204" pitchFamily="34" charset="0"/>
              </a:rPr>
              <a:t>www.linkedin.com/in/lucio-ricke-ingeniero-estructuras</a:t>
            </a:r>
          </a:p>
          <a:p>
            <a:pPr lvl="3" algn="ctr">
              <a:lnSpc>
                <a:spcPct val="11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MX" sz="2000" kern="100" dirty="0">
              <a:latin typeface="Rockwell" panose="02060603020205020403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02A86D-2C46-DE96-4318-8A4090628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850" y="0"/>
            <a:ext cx="1971950" cy="106694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A8E8831-99F0-68A2-FF85-842492D78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22727"/>
            <a:ext cx="12192000" cy="74029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88B61EA-46F8-B9DA-24CF-E42EC0EDB863}"/>
              </a:ext>
            </a:extLst>
          </p:cNvPr>
          <p:cNvSpPr txBox="1"/>
          <p:nvPr/>
        </p:nvSpPr>
        <p:spPr>
          <a:xfrm>
            <a:off x="302701" y="439842"/>
            <a:ext cx="9079149" cy="59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lnSpc>
                <a:spcPct val="110000"/>
              </a:lnSpc>
              <a:buNone/>
            </a:pPr>
            <a:r>
              <a:rPr lang="es-CL" sz="3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NCh 433:2026</a:t>
            </a:r>
            <a:r>
              <a:rPr lang="es-CL" sz="3200" kern="100">
                <a:latin typeface="Rockwell" panose="02060603020205020403" pitchFamily="18" charset="0"/>
                <a:cs typeface="Arial" panose="020B0604020202020204" pitchFamily="34" charset="0"/>
              </a:rPr>
              <a:t>	 </a:t>
            </a:r>
            <a:r>
              <a:rPr lang="es-CL" sz="3200" b="1" kern="100">
                <a:latin typeface="Rockwell" panose="02060603020205020403" pitchFamily="18" charset="0"/>
                <a:cs typeface="Arial" panose="020B0604020202020204" pitchFamily="34" charset="0"/>
              </a:rPr>
              <a:t>Diseño </a:t>
            </a:r>
            <a:r>
              <a:rPr lang="es-CL" sz="3200" b="1" kern="100" dirty="0">
                <a:latin typeface="Rockwell" panose="02060603020205020403" pitchFamily="18" charset="0"/>
                <a:cs typeface="Arial" panose="020B0604020202020204" pitchFamily="34" charset="0"/>
              </a:rPr>
              <a:t>Sísmico de Edificios</a:t>
            </a:r>
          </a:p>
        </p:txBody>
      </p:sp>
    </p:spTree>
    <p:extLst>
      <p:ext uri="{BB962C8B-B14F-4D97-AF65-F5344CB8AC3E}">
        <p14:creationId xmlns:p14="http://schemas.microsoft.com/office/powerpoint/2010/main" val="111083095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7246</TotalTime>
  <Words>1775</Words>
  <Application>Microsoft Office PowerPoint</Application>
  <PresentationFormat>Panorámica</PresentationFormat>
  <Paragraphs>171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Rockwell</vt:lpstr>
      <vt:lpstr>Wingdings</vt:lpstr>
      <vt:lpstr>Office Theme</vt:lpstr>
      <vt:lpstr>Presentación de PowerPoint</vt:lpstr>
      <vt:lpstr>Introducción</vt:lpstr>
      <vt:lpstr>Principios y supuestos básicos</vt:lpstr>
      <vt:lpstr>Principios y supuestos básicos</vt:lpstr>
      <vt:lpstr>6.- Métodos de análisis</vt:lpstr>
      <vt:lpstr>Diafragmas</vt:lpstr>
      <vt:lpstr>Sobre cargas de techo</vt:lpstr>
      <vt:lpstr>Diseño en Acero</vt:lpstr>
      <vt:lpstr>Clasificación Sísmica del Sitio de Fundación</vt:lpstr>
      <vt:lpstr>Clasificación Sísmica del Sitio de Fundación</vt:lpstr>
      <vt:lpstr>Clasificación Sísmica del Sitio de Fundación</vt:lpstr>
      <vt:lpstr>Clasificación Sísmica del Sitio de Fundación</vt:lpstr>
      <vt:lpstr>Clasificación Sísmica del Sitio de Fundación</vt:lpstr>
      <vt:lpstr>Estudios de Amenaza Sísmica</vt:lpstr>
      <vt:lpstr>Requerimiento de sondajes</vt:lpstr>
      <vt:lpstr>Requerimiento de sondajes</vt:lpstr>
      <vt:lpstr>Categorías de Ocupación de Edificios</vt:lpstr>
      <vt:lpstr>Deformación de entrepiso</vt:lpstr>
      <vt:lpstr>Elementos No Estructurales</vt:lpstr>
      <vt:lpstr>Oficialización</vt:lpstr>
      <vt:lpstr>Oficialización</vt:lpstr>
      <vt:lpstr>Responsabilidades</vt:lpstr>
      <vt:lpstr>Conclusiones :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evolucion del diseño estructural post 27f</dc:title>
  <dc:creator>Lucio Ricke</dc:creator>
  <cp:lastModifiedBy>Lucio Ricke</cp:lastModifiedBy>
  <cp:revision>341</cp:revision>
  <dcterms:created xsi:type="dcterms:W3CDTF">2020-10-25T01:31:55Z</dcterms:created>
  <dcterms:modified xsi:type="dcterms:W3CDTF">2026-09-03T15:13:44Z</dcterms:modified>
</cp:coreProperties>
</file>